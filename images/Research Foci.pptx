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665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65" d="100"/>
          <a:sy n="165" d="100"/>
        </p:scale>
        <p:origin x="238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E9B54E-E3A8-4DB7-ACFC-6D521DDDCA5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D4620F-1215-4364-BBD2-23F53053405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08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74896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7D101F-4EEF-5229-17C0-C91D96E44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FF4C33C-C34F-D1E3-40C7-26AF595BF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A6B910-5CF9-5943-FCA7-0937E9636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43219-015C-43E1-A12F-BA2A1CA89FD7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4378E6-658B-071F-508A-BEDA39785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78CEBE-E9AC-D0E6-DF20-C944EFD85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CC644-B5F4-4095-BAA8-65EB7002339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99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90D093-6F8B-D1AF-E08A-E9D755B4D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F4B62DB-6D4C-5638-E9DD-35CF53E96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8673F8-BAC7-EFE9-3CF9-33DDA4958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43219-015C-43E1-A12F-BA2A1CA89FD7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D58394-6C61-8C2D-B1BE-64193C261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8AB65A-2F7A-2CB6-09F7-C31AE8082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CC644-B5F4-4095-BAA8-65EB7002339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001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017B6B-C669-F7AA-7075-0D492241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821A766-E5B6-8CB7-2E4A-6EF2FA36A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5DDC75-4649-5A21-9E15-13A4380C5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43219-015C-43E1-A12F-BA2A1CA89FD7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8E7F57-01F9-EF69-80F6-1BAC8DA97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56AB19-556C-AA57-BA7A-D99CE8CCC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CC644-B5F4-4095-BAA8-65EB7002339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008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8A8F10-7336-2668-B99A-F64D1D90D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F2E4615-0F21-645F-6AB4-208F5DA89A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A77CD12-EB23-8620-FF20-AD87E8E2B3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CE3D8FD-4652-9352-1718-C08BE29DE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43219-015C-43E1-A12F-BA2A1CA89FD7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290CEEB-98D8-5C3B-79D6-8B02CE382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C2BCC82-F028-DE1A-3D0B-946584E8E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CC644-B5F4-4095-BAA8-65EB7002339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46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B492D1-C843-A3D0-87A5-10D97BAC6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5E4EA86-0C50-9C91-58E3-FD7F2DE6E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DD18B92-C04D-6235-DFDC-87776F4A8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CE71F0F-CAB3-2AA8-2858-8081F4611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3B2D140-7DD9-AA44-786E-F6B78DFA65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414FCB3-30A2-3ADC-57FC-90400FF5C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43219-015C-43E1-A12F-BA2A1CA89FD7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6669D1D-31CF-965B-E834-CB1B61316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3573078-BBBD-4112-2593-5E014050E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CC644-B5F4-4095-BAA8-65EB7002339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4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BCC332-18D8-9E94-1EA1-FEF336D32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53D59CA-37EB-211A-3EAD-855E6B496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43219-015C-43E1-A12F-BA2A1CA89FD7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79E6E22-CF4B-5D3B-7AC4-B58AFC40E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9433BA5-702E-834F-9ECB-453E09667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CC644-B5F4-4095-BAA8-65EB7002339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030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C22E34F-1672-29FF-51CA-FC7C37723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43219-015C-43E1-A12F-BA2A1CA89FD7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90FC48A-3AEF-51B2-679A-CD3FBB16A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7708B3B-5908-EA94-3D6F-D82B1C998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CC644-B5F4-4095-BAA8-65EB7002339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936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5EAC0A-DAED-E2D0-85A1-785827B93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1B19F0-0612-8E42-8EC1-DB4FFFEAB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A725CCD-34E6-1E25-46F3-A423B94763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55A8F9D-12F9-3083-F39A-05B016F59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43219-015C-43E1-A12F-BA2A1CA89FD7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D6E0CCD-B561-29C0-6B84-0989E31CC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D2357E4-0672-7A92-4B0C-3AF875534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CC644-B5F4-4095-BAA8-65EB7002339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610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D7886C-4979-7C92-607C-2BB1506C8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4A75AD8-EFA3-D04A-6AC6-74C8D9D6B9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4C4B56A-B8B8-3C49-C670-8FFF114F56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789AF15-7650-6916-6F7E-DC0977CA4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43219-015C-43E1-A12F-BA2A1CA89FD7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FA1E95D-66FD-23A1-CF18-301C32E6C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277EDB0-46EE-1E84-4DD5-01F3AF838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CC644-B5F4-4095-BAA8-65EB7002339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365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86BF2D-AD3D-7FED-5F47-246179166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38690FD-0380-88BB-B7C2-9F41B328C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DBB849-DCD1-CB7B-8329-B56B7418F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43219-015C-43E1-A12F-BA2A1CA89FD7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68EB4C-D9B0-424C-43EF-B6B702364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816848-89B9-CE3F-F2AB-F5E46E2C6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CC644-B5F4-4095-BAA8-65EB7002339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203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5D78B8C-0000-3614-1AFF-855D6D73B1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4DE8A0C-1409-9619-5B5A-B51F612DC3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225472-4C91-7562-36BB-3B579A773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43219-015C-43E1-A12F-BA2A1CA89FD7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ECF3BB-7C0D-9A26-B597-10CA8513D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87A91D2-CA1F-8330-CDD1-170A85437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CC644-B5F4-4095-BAA8-65EB7002339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933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E634475-90F8-A211-34D7-419DDB045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581AD66-D492-790A-464C-58C43B4E5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5B601C-6AE1-4F24-A574-AB24A3D21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843219-015C-43E1-A12F-BA2A1CA89FD7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E380A2-7B4A-4D45-3E46-B78272D4CB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113DE6-E921-CB06-799D-AABBC58CE2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0CC644-B5F4-4095-BAA8-65EB7002339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850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8.jpeg"/><Relationship Id="rId18" Type="http://schemas.openxmlformats.org/officeDocument/2006/relationships/image" Target="../media/image13.png"/><Relationship Id="rId3" Type="http://schemas.openxmlformats.org/officeDocument/2006/relationships/image" Target="../media/image1.png"/><Relationship Id="rId21" Type="http://schemas.openxmlformats.org/officeDocument/2006/relationships/image" Target="../media/image16.png"/><Relationship Id="rId7" Type="http://schemas.openxmlformats.org/officeDocument/2006/relationships/image" Target="../media/image5.png"/><Relationship Id="rId12" Type="http://schemas.openxmlformats.org/officeDocument/2006/relationships/hyperlink" Target="https://shop.laserscanning-europe.com/" TargetMode="External"/><Relationship Id="rId1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hyperlink" Target="https://www.vecteezy.com/" TargetMode="External"/><Relationship Id="rId5" Type="http://schemas.openxmlformats.org/officeDocument/2006/relationships/image" Target="../media/image3.png"/><Relationship Id="rId15" Type="http://schemas.openxmlformats.org/officeDocument/2006/relationships/image" Target="../media/image10.png"/><Relationship Id="rId10" Type="http://schemas.openxmlformats.org/officeDocument/2006/relationships/hyperlink" Target="https://ian.umces.edu/" TargetMode="External"/><Relationship Id="rId19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1" hidden="1"/>
          <p:cNvSpPr txBox="1">
            <a:spLocks/>
          </p:cNvSpPr>
          <p:nvPr/>
        </p:nvSpPr>
        <p:spPr>
          <a:xfrm>
            <a:off x="2010000" y="1591199"/>
            <a:ext cx="8172000" cy="43380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4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Optical:</a:t>
            </a:r>
          </a:p>
          <a:p>
            <a:r>
              <a:rPr lang="de-DE"/>
              <a:t>Sentinel-3A (300m), MODIS (250m), AVHRR (1km) </a:t>
            </a:r>
          </a:p>
          <a:p>
            <a:endParaRPr lang="de-DE"/>
          </a:p>
          <a:p>
            <a:endParaRPr lang="de-DE"/>
          </a:p>
          <a:p>
            <a:r>
              <a:rPr lang="de-DE"/>
              <a:t>Radar:</a:t>
            </a:r>
          </a:p>
          <a:p>
            <a:r>
              <a:rPr lang="de-DE"/>
              <a:t>Envisat ASAR WSM (150m)</a:t>
            </a:r>
          </a:p>
          <a:p>
            <a:endParaRPr lang="de-DE"/>
          </a:p>
          <a:p>
            <a:endParaRPr lang="de-DE" dirty="0"/>
          </a:p>
        </p:txBody>
      </p:sp>
      <p:grpSp>
        <p:nvGrpSpPr>
          <p:cNvPr id="12" name="Gruppieren 11" hidden="1"/>
          <p:cNvGrpSpPr/>
          <p:nvPr/>
        </p:nvGrpSpPr>
        <p:grpSpPr>
          <a:xfrm>
            <a:off x="2010000" y="1591199"/>
            <a:ext cx="8172000" cy="4338000"/>
            <a:chOff x="486000" y="1591199"/>
            <a:chExt cx="8172000" cy="4338000"/>
          </a:xfrm>
        </p:grpSpPr>
        <p:sp>
          <p:nvSpPr>
            <p:cNvPr id="13" name="Textplatzhalter 1"/>
            <p:cNvSpPr txBox="1">
              <a:spLocks/>
            </p:cNvSpPr>
            <p:nvPr/>
          </p:nvSpPr>
          <p:spPr bwMode="auto">
            <a:xfrm>
              <a:off x="486000" y="1591199"/>
              <a:ext cx="8172000" cy="43380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>
              <a:lvl1pPr marL="180000" indent="-180000" algn="l" defTabSz="914400" rtl="0" eaLnBrk="1" latinLnBrk="0" hangingPunct="1">
                <a:spcBef>
                  <a:spcPts val="300"/>
                </a:spcBef>
                <a:spcAft>
                  <a:spcPts val="0"/>
                </a:spcAft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1pPr>
              <a:lvl2pPr marL="626400" indent="-180000" algn="l" defTabSz="914400" rtl="0" eaLnBrk="1" latinLnBrk="0" hangingPunct="1">
                <a:spcBef>
                  <a:spcPts val="0"/>
                </a:spcBef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2pPr>
              <a:lvl3pPr marL="1076400" indent="-180000" algn="l" defTabSz="914400" rtl="0" eaLnBrk="1" latinLnBrk="0" hangingPunct="1">
                <a:spcBef>
                  <a:spcPts val="0"/>
                </a:spcBef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3pPr>
              <a:lvl4pPr marL="1522800" indent="-180000" algn="l" defTabSz="914400" rtl="0" eaLnBrk="1" latinLnBrk="0" hangingPunct="1">
                <a:spcBef>
                  <a:spcPts val="0"/>
                </a:spcBef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4pPr>
              <a:lvl5pPr marL="1969200" indent="-180000" algn="l" defTabSz="914400" rtl="0" eaLnBrk="1" latinLnBrk="0" hangingPunct="1">
                <a:spcBef>
                  <a:spcPts val="0"/>
                </a:spcBef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de-DE" dirty="0"/>
            </a:p>
            <a:p>
              <a:pPr marL="0" indent="0">
                <a:buNone/>
              </a:pPr>
              <a:endParaRPr lang="de-DE" dirty="0"/>
            </a:p>
            <a:p>
              <a:r>
                <a:rPr lang="de-DE" dirty="0"/>
                <a:t>Sentinel-2A/B, SPOT, IKONOS</a:t>
              </a:r>
            </a:p>
            <a:p>
              <a:pPr marL="0" indent="0">
                <a:buNone/>
              </a:pPr>
              <a:endParaRPr lang="de-DE" dirty="0"/>
            </a:p>
            <a:p>
              <a:endParaRPr lang="de-DE" dirty="0"/>
            </a:p>
            <a:p>
              <a:endParaRPr lang="de-DE" dirty="0"/>
            </a:p>
            <a:p>
              <a:r>
                <a:rPr lang="de-DE" dirty="0"/>
                <a:t>Sentinel-1A/B, TSX </a:t>
              </a:r>
            </a:p>
            <a:p>
              <a:endParaRPr lang="de-DE" dirty="0"/>
            </a:p>
          </p:txBody>
        </p:sp>
        <p:pic>
          <p:nvPicPr>
            <p:cNvPr id="14" name="Picture 3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9792" y="3399665"/>
              <a:ext cx="462587" cy="461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" name="Picture 3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3973" y="2158701"/>
              <a:ext cx="462003" cy="460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6" name="Textplatzhalter 1" hidden="1"/>
          <p:cNvSpPr txBox="1">
            <a:spLocks/>
          </p:cNvSpPr>
          <p:nvPr/>
        </p:nvSpPr>
        <p:spPr bwMode="auto">
          <a:xfrm>
            <a:off x="2010000" y="1591199"/>
            <a:ext cx="8478488" cy="433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80000" indent="-180000" algn="l" defTabSz="914400" rtl="0" eaLnBrk="1" latinLnBrk="0" hangingPunct="1">
              <a:spcBef>
                <a:spcPts val="300"/>
              </a:spcBef>
              <a:spcAft>
                <a:spcPts val="0"/>
              </a:spcAft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26400" indent="-180000" algn="l" defTabSz="914400" rtl="0" eaLnBrk="1" latinLnBrk="0" hangingPunct="1">
              <a:spcBef>
                <a:spcPts val="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076400" indent="-180000" algn="l" defTabSz="914400" rtl="0" eaLnBrk="1" latinLnBrk="0" hangingPunct="1">
              <a:spcBef>
                <a:spcPts val="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522800" indent="-180000" algn="l" defTabSz="914400" rtl="0" eaLnBrk="1" latinLnBrk="0" hangingPunct="1">
              <a:spcBef>
                <a:spcPts val="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969200" indent="-180000" algn="l" defTabSz="914400" rtl="0" eaLnBrk="1" latinLnBrk="0" hangingPunct="1">
              <a:spcBef>
                <a:spcPts val="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 Sentinel-1 </a:t>
            </a:r>
            <a:endParaRPr lang="de-DE" dirty="0"/>
          </a:p>
          <a:p>
            <a:r>
              <a:rPr lang="de-DE" dirty="0"/>
              <a:t>global </a:t>
            </a:r>
            <a:r>
              <a:rPr lang="de-DE" dirty="0" err="1"/>
              <a:t>coverage</a:t>
            </a:r>
            <a:endParaRPr lang="de-DE" dirty="0"/>
          </a:p>
          <a:p>
            <a:r>
              <a:rPr lang="de-DE" dirty="0" err="1"/>
              <a:t>up</a:t>
            </a:r>
            <a:r>
              <a:rPr lang="de-DE" dirty="0"/>
              <a:t>-</a:t>
            </a:r>
            <a:r>
              <a:rPr lang="de-DE" dirty="0" err="1"/>
              <a:t>to</a:t>
            </a:r>
            <a:r>
              <a:rPr lang="de-DE" dirty="0"/>
              <a:t>-date </a:t>
            </a:r>
          </a:p>
          <a:p>
            <a:r>
              <a:rPr lang="de-DE" dirty="0" err="1"/>
              <a:t>dense</a:t>
            </a:r>
            <a:r>
              <a:rPr lang="de-DE" dirty="0"/>
              <a:t> time </a:t>
            </a:r>
            <a:r>
              <a:rPr lang="de-DE" dirty="0" err="1"/>
              <a:t>series</a:t>
            </a:r>
            <a:r>
              <a:rPr lang="de-DE" dirty="0"/>
              <a:t> </a:t>
            </a:r>
            <a:r>
              <a:rPr lang="de-DE" dirty="0" err="1"/>
              <a:t>available</a:t>
            </a:r>
            <a:r>
              <a:rPr lang="de-DE" dirty="0"/>
              <a:t>				         	             S1A operational </a:t>
            </a:r>
            <a:r>
              <a:rPr lang="de-DE" dirty="0" err="1"/>
              <a:t>since</a:t>
            </a:r>
            <a:r>
              <a:rPr lang="de-DE" dirty="0"/>
              <a:t> </a:t>
            </a:r>
            <a:r>
              <a:rPr lang="de-DE" dirty="0" err="1"/>
              <a:t>October</a:t>
            </a:r>
            <a:r>
              <a:rPr lang="de-DE" dirty="0"/>
              <a:t> 2014, 				             </a:t>
            </a:r>
            <a:r>
              <a:rPr lang="de-DE" dirty="0" err="1"/>
              <a:t>twin</a:t>
            </a:r>
            <a:r>
              <a:rPr lang="de-DE" dirty="0"/>
              <a:t> </a:t>
            </a:r>
            <a:r>
              <a:rPr lang="de-DE" dirty="0" err="1"/>
              <a:t>satellite</a:t>
            </a:r>
            <a:r>
              <a:rPr lang="de-DE" dirty="0"/>
              <a:t> </a:t>
            </a:r>
            <a:r>
              <a:rPr lang="de-DE" dirty="0" err="1"/>
              <a:t>mode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S1B </a:t>
            </a:r>
            <a:r>
              <a:rPr lang="de-DE" dirty="0" err="1"/>
              <a:t>since</a:t>
            </a:r>
            <a:r>
              <a:rPr lang="de-DE" dirty="0"/>
              <a:t> </a:t>
            </a:r>
            <a:r>
              <a:rPr lang="de-DE" dirty="0" err="1"/>
              <a:t>October</a:t>
            </a:r>
            <a:r>
              <a:rPr lang="de-DE" dirty="0"/>
              <a:t> 2016</a:t>
            </a:r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A7A899FC-F5BE-424C-56C3-1AD5EDDE2EBD}"/>
              </a:ext>
            </a:extLst>
          </p:cNvPr>
          <p:cNvGrpSpPr/>
          <p:nvPr/>
        </p:nvGrpSpPr>
        <p:grpSpPr>
          <a:xfrm>
            <a:off x="289138" y="2037400"/>
            <a:ext cx="9530162" cy="1447003"/>
            <a:chOff x="293891" y="2297885"/>
            <a:chExt cx="9530162" cy="1447003"/>
          </a:xfrm>
        </p:grpSpPr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960928CF-34A6-5B69-9DFB-4054AE7C67FA}"/>
                </a:ext>
              </a:extLst>
            </p:cNvPr>
            <p:cNvSpPr/>
            <p:nvPr/>
          </p:nvSpPr>
          <p:spPr>
            <a:xfrm>
              <a:off x="293891" y="2631715"/>
              <a:ext cx="3781337" cy="75448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>
                <a:buFont typeface="+mj-lt"/>
                <a:buAutoNum type="arabicPeriod" startAt="2"/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Time-series analyses for forest management monitoring</a:t>
              </a:r>
            </a:p>
          </p:txBody>
        </p:sp>
        <p:grpSp>
          <p:nvGrpSpPr>
            <p:cNvPr id="63" name="Gruppieren 62">
              <a:extLst>
                <a:ext uri="{FF2B5EF4-FFF2-40B4-BE49-F238E27FC236}">
                  <a16:creationId xmlns:a16="http://schemas.microsoft.com/office/drawing/2014/main" id="{A4347DC8-2932-927E-7FAA-DD69CB915AE0}"/>
                </a:ext>
              </a:extLst>
            </p:cNvPr>
            <p:cNvGrpSpPr/>
            <p:nvPr/>
          </p:nvGrpSpPr>
          <p:grpSpPr>
            <a:xfrm>
              <a:off x="4819680" y="2297885"/>
              <a:ext cx="2754865" cy="1447003"/>
              <a:chOff x="5237893" y="2656844"/>
              <a:chExt cx="2754865" cy="1447003"/>
            </a:xfrm>
          </p:grpSpPr>
          <p:pic>
            <p:nvPicPr>
              <p:cNvPr id="42" name="Grafik 41">
                <a:extLst>
                  <a:ext uri="{FF2B5EF4-FFF2-40B4-BE49-F238E27FC236}">
                    <a16:creationId xmlns:a16="http://schemas.microsoft.com/office/drawing/2014/main" id="{2A03991C-DBF8-8A26-8785-21C030C41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38566" y="2986102"/>
                <a:ext cx="754487" cy="1097833"/>
              </a:xfrm>
              <a:prstGeom prst="rect">
                <a:avLst/>
              </a:prstGeom>
            </p:spPr>
          </p:pic>
          <p:pic>
            <p:nvPicPr>
              <p:cNvPr id="44" name="Grafik 43">
                <a:extLst>
                  <a:ext uri="{FF2B5EF4-FFF2-40B4-BE49-F238E27FC236}">
                    <a16:creationId xmlns:a16="http://schemas.microsoft.com/office/drawing/2014/main" id="{55D240F1-D439-1A0B-EB2C-DEDEB7EE0E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44180" y="3538876"/>
                <a:ext cx="509726" cy="563856"/>
              </a:xfrm>
              <a:prstGeom prst="rect">
                <a:avLst/>
              </a:prstGeom>
            </p:spPr>
          </p:pic>
          <p:pic>
            <p:nvPicPr>
              <p:cNvPr id="45" name="Grafik 44">
                <a:extLst>
                  <a:ext uri="{FF2B5EF4-FFF2-40B4-BE49-F238E27FC236}">
                    <a16:creationId xmlns:a16="http://schemas.microsoft.com/office/drawing/2014/main" id="{26BCAC9D-7C94-06B1-F8C4-2F96EB420E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2078" y="3305579"/>
                <a:ext cx="534926" cy="778356"/>
              </a:xfrm>
              <a:prstGeom prst="rect">
                <a:avLst/>
              </a:prstGeom>
            </p:spPr>
          </p:pic>
          <p:pic>
            <p:nvPicPr>
              <p:cNvPr id="46" name="Grafik 45">
                <a:extLst>
                  <a:ext uri="{FF2B5EF4-FFF2-40B4-BE49-F238E27FC236}">
                    <a16:creationId xmlns:a16="http://schemas.microsoft.com/office/drawing/2014/main" id="{5A3FF497-80F4-D309-6E6E-ACAFA42D9F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37893" y="3352631"/>
                <a:ext cx="470252" cy="684251"/>
              </a:xfrm>
              <a:prstGeom prst="rect">
                <a:avLst/>
              </a:prstGeom>
            </p:spPr>
          </p:pic>
          <p:pic>
            <p:nvPicPr>
              <p:cNvPr id="48" name="Grafik 47">
                <a:extLst>
                  <a:ext uri="{FF2B5EF4-FFF2-40B4-BE49-F238E27FC236}">
                    <a16:creationId xmlns:a16="http://schemas.microsoft.com/office/drawing/2014/main" id="{344A67DD-9505-3D33-B9CE-7F8578CB06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64241" y="3011071"/>
                <a:ext cx="728517" cy="1092776"/>
              </a:xfrm>
              <a:prstGeom prst="rect">
                <a:avLst/>
              </a:prstGeom>
            </p:spPr>
          </p:pic>
          <p:cxnSp>
            <p:nvCxnSpPr>
              <p:cNvPr id="50" name="Gerader Verbinder 49">
                <a:extLst>
                  <a:ext uri="{FF2B5EF4-FFF2-40B4-BE49-F238E27FC236}">
                    <a16:creationId xmlns:a16="http://schemas.microsoft.com/office/drawing/2014/main" id="{C7FFFCF7-0B10-DCA9-5147-DB8E995D0E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39465" y="2953549"/>
                <a:ext cx="2188936" cy="7462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4B6D0045-EF3D-DA0D-AB90-F23D306C19C1}"/>
                  </a:ext>
                </a:extLst>
              </p:cNvPr>
              <p:cNvSpPr txBox="1"/>
              <p:nvPr/>
            </p:nvSpPr>
            <p:spPr>
              <a:xfrm>
                <a:off x="6325994" y="2656844"/>
                <a:ext cx="3240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</a:t>
                </a:r>
              </a:p>
            </p:txBody>
          </p:sp>
        </p:grpSp>
        <p:grpSp>
          <p:nvGrpSpPr>
            <p:cNvPr id="144" name="Gruppieren 143">
              <a:extLst>
                <a:ext uri="{FF2B5EF4-FFF2-40B4-BE49-F238E27FC236}">
                  <a16:creationId xmlns:a16="http://schemas.microsoft.com/office/drawing/2014/main" id="{79A00DBF-74C2-9129-7586-E0BB689047F8}"/>
                </a:ext>
              </a:extLst>
            </p:cNvPr>
            <p:cNvGrpSpPr/>
            <p:nvPr/>
          </p:nvGrpSpPr>
          <p:grpSpPr>
            <a:xfrm>
              <a:off x="8348172" y="2733004"/>
              <a:ext cx="1475881" cy="884535"/>
              <a:chOff x="7484945" y="3151858"/>
              <a:chExt cx="1475881" cy="884535"/>
            </a:xfrm>
          </p:grpSpPr>
          <p:pic>
            <p:nvPicPr>
              <p:cNvPr id="90" name="Grafik 89">
                <a:extLst>
                  <a:ext uri="{FF2B5EF4-FFF2-40B4-BE49-F238E27FC236}">
                    <a16:creationId xmlns:a16="http://schemas.microsoft.com/office/drawing/2014/main" id="{23304C0B-D6FC-F296-9E60-8D00EDF22D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8561" t="18871" r="19073" b="19391"/>
              <a:stretch/>
            </p:blipFill>
            <p:spPr>
              <a:xfrm>
                <a:off x="7484945" y="3151858"/>
                <a:ext cx="500097" cy="495058"/>
              </a:xfrm>
              <a:prstGeom prst="rect">
                <a:avLst/>
              </a:prstGeom>
            </p:spPr>
          </p:pic>
          <p:sp>
            <p:nvSpPr>
              <p:cNvPr id="92" name="Textfeld 91">
                <a:extLst>
                  <a:ext uri="{FF2B5EF4-FFF2-40B4-BE49-F238E27FC236}">
                    <a16:creationId xmlns:a16="http://schemas.microsoft.com/office/drawing/2014/main" id="{1B76A966-19B7-A289-FB6E-079F2F13435A}"/>
                  </a:ext>
                </a:extLst>
              </p:cNvPr>
              <p:cNvSpPr txBox="1"/>
              <p:nvPr/>
            </p:nvSpPr>
            <p:spPr>
              <a:xfrm>
                <a:off x="7960632" y="3224267"/>
                <a:ext cx="6382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vs.</a:t>
                </a:r>
              </a:p>
            </p:txBody>
          </p:sp>
          <p:sp>
            <p:nvSpPr>
              <p:cNvPr id="94" name="Gleichschenkliges Dreieck 93">
                <a:extLst>
                  <a:ext uri="{FF2B5EF4-FFF2-40B4-BE49-F238E27FC236}">
                    <a16:creationId xmlns:a16="http://schemas.microsoft.com/office/drawing/2014/main" id="{5766E233-E2F5-8F35-C641-17ED62507F04}"/>
                  </a:ext>
                </a:extLst>
              </p:cNvPr>
              <p:cNvSpPr/>
              <p:nvPr/>
            </p:nvSpPr>
            <p:spPr>
              <a:xfrm>
                <a:off x="7680193" y="3602374"/>
                <a:ext cx="173764" cy="434019"/>
              </a:xfrm>
              <a:prstGeom prst="triangle">
                <a:avLst/>
              </a:prstGeom>
              <a:gradFill flip="none" rotWithShape="1">
                <a:gsLst>
                  <a:gs pos="0">
                    <a:srgbClr val="0070C0"/>
                  </a:gs>
                  <a:gs pos="46900">
                    <a:srgbClr val="00B050"/>
                  </a:gs>
                  <a:gs pos="100000">
                    <a:srgbClr val="FF0000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0" name="Gruppieren 99">
                <a:extLst>
                  <a:ext uri="{FF2B5EF4-FFF2-40B4-BE49-F238E27FC236}">
                    <a16:creationId xmlns:a16="http://schemas.microsoft.com/office/drawing/2014/main" id="{BECAFEDB-6F00-5E24-AA2A-48DC82B3B657}"/>
                  </a:ext>
                </a:extLst>
              </p:cNvPr>
              <p:cNvGrpSpPr/>
              <p:nvPr/>
            </p:nvGrpSpPr>
            <p:grpSpPr>
              <a:xfrm>
                <a:off x="8460729" y="3195936"/>
                <a:ext cx="500097" cy="825808"/>
                <a:chOff x="8069290" y="3201396"/>
                <a:chExt cx="500097" cy="825808"/>
              </a:xfrm>
            </p:grpSpPr>
            <p:pic>
              <p:nvPicPr>
                <p:cNvPr id="93" name="Grafik 92">
                  <a:extLst>
                    <a:ext uri="{FF2B5EF4-FFF2-40B4-BE49-F238E27FC236}">
                      <a16:creationId xmlns:a16="http://schemas.microsoft.com/office/drawing/2014/main" id="{6F306411-EBE7-85F5-AFD5-61006B8E70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8561" t="18871" r="19073" b="19391"/>
                <a:stretch/>
              </p:blipFill>
              <p:spPr>
                <a:xfrm>
                  <a:off x="8069290" y="3201396"/>
                  <a:ext cx="500097" cy="495058"/>
                </a:xfrm>
                <a:prstGeom prst="rect">
                  <a:avLst/>
                </a:prstGeom>
              </p:spPr>
            </p:pic>
            <p:cxnSp>
              <p:nvCxnSpPr>
                <p:cNvPr id="97" name="Gerade Verbindung mit Pfeil 96">
                  <a:extLst>
                    <a:ext uri="{FF2B5EF4-FFF2-40B4-BE49-F238E27FC236}">
                      <a16:creationId xmlns:a16="http://schemas.microsoft.com/office/drawing/2014/main" id="{1D8A6E27-981A-1BF7-C7D0-9D61A3581B67}"/>
                    </a:ext>
                  </a:extLst>
                </p:cNvPr>
                <p:cNvCxnSpPr>
                  <a:stCxn id="93" idx="2"/>
                </p:cNvCxnSpPr>
                <p:nvPr/>
              </p:nvCxnSpPr>
              <p:spPr>
                <a:xfrm flipH="1">
                  <a:off x="8319338" y="3696454"/>
                  <a:ext cx="1" cy="33075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Gerade Verbindung mit Pfeil 97">
                  <a:extLst>
                    <a:ext uri="{FF2B5EF4-FFF2-40B4-BE49-F238E27FC236}">
                      <a16:creationId xmlns:a16="http://schemas.microsoft.com/office/drawing/2014/main" id="{E2458ED5-9417-D004-4A76-B95249AEEC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3739" y="3696454"/>
                  <a:ext cx="0" cy="31965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D38A49B1-3DDB-85BA-B5DF-9FDBBE4B552E}"/>
              </a:ext>
            </a:extLst>
          </p:cNvPr>
          <p:cNvGrpSpPr/>
          <p:nvPr/>
        </p:nvGrpSpPr>
        <p:grpSpPr>
          <a:xfrm>
            <a:off x="293190" y="484272"/>
            <a:ext cx="9981000" cy="1461113"/>
            <a:chOff x="-210164" y="641564"/>
            <a:chExt cx="9981000" cy="1461113"/>
          </a:xfrm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81DFF4C4-849C-AD25-BCDF-FAE6551DA6E7}"/>
                </a:ext>
              </a:extLst>
            </p:cNvPr>
            <p:cNvSpPr/>
            <p:nvPr/>
          </p:nvSpPr>
          <p:spPr>
            <a:xfrm>
              <a:off x="-210164" y="1100414"/>
              <a:ext cx="3776697" cy="75448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>
                <a:buFont typeface="+mj-lt"/>
                <a:buAutoNum type="arabicPeriod"/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Modeling of forest structure attributes for Germany</a:t>
              </a:r>
            </a:p>
          </p:txBody>
        </p:sp>
        <p:grpSp>
          <p:nvGrpSpPr>
            <p:cNvPr id="145" name="Gruppieren 144">
              <a:extLst>
                <a:ext uri="{FF2B5EF4-FFF2-40B4-BE49-F238E27FC236}">
                  <a16:creationId xmlns:a16="http://schemas.microsoft.com/office/drawing/2014/main" id="{55E1DA96-3B1D-7EE4-B247-596978EBCE8F}"/>
                </a:ext>
              </a:extLst>
            </p:cNvPr>
            <p:cNvGrpSpPr/>
            <p:nvPr/>
          </p:nvGrpSpPr>
          <p:grpSpPr>
            <a:xfrm>
              <a:off x="7804090" y="1052570"/>
              <a:ext cx="1966746" cy="902160"/>
              <a:chOff x="5829985" y="1755095"/>
              <a:chExt cx="1966746" cy="902160"/>
            </a:xfrm>
          </p:grpSpPr>
          <p:grpSp>
            <p:nvGrpSpPr>
              <p:cNvPr id="109" name="Gruppieren 108">
                <a:extLst>
                  <a:ext uri="{FF2B5EF4-FFF2-40B4-BE49-F238E27FC236}">
                    <a16:creationId xmlns:a16="http://schemas.microsoft.com/office/drawing/2014/main" id="{21F29D38-CD9C-1CB6-6695-4DF1E3B50EFF}"/>
                  </a:ext>
                </a:extLst>
              </p:cNvPr>
              <p:cNvGrpSpPr/>
              <p:nvPr/>
            </p:nvGrpSpPr>
            <p:grpSpPr>
              <a:xfrm>
                <a:off x="6560206" y="1755095"/>
                <a:ext cx="500097" cy="855278"/>
                <a:chOff x="6061977" y="1775709"/>
                <a:chExt cx="500097" cy="855278"/>
              </a:xfrm>
            </p:grpSpPr>
            <p:pic>
              <p:nvPicPr>
                <p:cNvPr id="101" name="Grafik 100">
                  <a:extLst>
                    <a:ext uri="{FF2B5EF4-FFF2-40B4-BE49-F238E27FC236}">
                      <a16:creationId xmlns:a16="http://schemas.microsoft.com/office/drawing/2014/main" id="{DDD77C5D-68C4-DA8F-A759-77E24B2C46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8561" t="18871" r="19073" b="19391"/>
                <a:stretch/>
              </p:blipFill>
              <p:spPr>
                <a:xfrm>
                  <a:off x="6061977" y="1775709"/>
                  <a:ext cx="500097" cy="495058"/>
                </a:xfrm>
                <a:prstGeom prst="rect">
                  <a:avLst/>
                </a:prstGeom>
              </p:spPr>
            </p:pic>
            <p:sp>
              <p:nvSpPr>
                <p:cNvPr id="102" name="Gleichschenkliges Dreieck 101">
                  <a:extLst>
                    <a:ext uri="{FF2B5EF4-FFF2-40B4-BE49-F238E27FC236}">
                      <a16:creationId xmlns:a16="http://schemas.microsoft.com/office/drawing/2014/main" id="{D32F9A0E-727C-32D2-75FC-A3E063CF9606}"/>
                    </a:ext>
                  </a:extLst>
                </p:cNvPr>
                <p:cNvSpPr/>
                <p:nvPr/>
              </p:nvSpPr>
              <p:spPr>
                <a:xfrm>
                  <a:off x="6220075" y="2196968"/>
                  <a:ext cx="173764" cy="434019"/>
                </a:xfrm>
                <a:prstGeom prst="triangle">
                  <a:avLst/>
                </a:prstGeom>
                <a:gradFill flip="none" rotWithShape="1">
                  <a:gsLst>
                    <a:gs pos="0">
                      <a:srgbClr val="0070C0"/>
                    </a:gs>
                    <a:gs pos="46900">
                      <a:srgbClr val="00B050"/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uppieren 102">
                <a:extLst>
                  <a:ext uri="{FF2B5EF4-FFF2-40B4-BE49-F238E27FC236}">
                    <a16:creationId xmlns:a16="http://schemas.microsoft.com/office/drawing/2014/main" id="{EE705BBD-21AF-EC5F-592D-9042125F3DD1}"/>
                  </a:ext>
                </a:extLst>
              </p:cNvPr>
              <p:cNvGrpSpPr/>
              <p:nvPr/>
            </p:nvGrpSpPr>
            <p:grpSpPr>
              <a:xfrm>
                <a:off x="7296634" y="1756420"/>
                <a:ext cx="500097" cy="900835"/>
                <a:chOff x="8020031" y="3126369"/>
                <a:chExt cx="500097" cy="900835"/>
              </a:xfrm>
            </p:grpSpPr>
            <p:pic>
              <p:nvPicPr>
                <p:cNvPr id="104" name="Grafik 103">
                  <a:extLst>
                    <a:ext uri="{FF2B5EF4-FFF2-40B4-BE49-F238E27FC236}">
                      <a16:creationId xmlns:a16="http://schemas.microsoft.com/office/drawing/2014/main" id="{6ECD01F7-C604-82CA-84F7-13D5C15CBE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8561" t="18871" r="19073" b="19391"/>
                <a:stretch/>
              </p:blipFill>
              <p:spPr>
                <a:xfrm>
                  <a:off x="8020031" y="3126369"/>
                  <a:ext cx="500097" cy="495058"/>
                </a:xfrm>
                <a:prstGeom prst="rect">
                  <a:avLst/>
                </a:prstGeom>
              </p:spPr>
            </p:pic>
            <p:cxnSp>
              <p:nvCxnSpPr>
                <p:cNvPr id="105" name="Gerade Verbindung mit Pfeil 104">
                  <a:extLst>
                    <a:ext uri="{FF2B5EF4-FFF2-40B4-BE49-F238E27FC236}">
                      <a16:creationId xmlns:a16="http://schemas.microsoft.com/office/drawing/2014/main" id="{A5F3825F-9D3D-C504-E582-D452B606A2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79091" y="3696454"/>
                  <a:ext cx="1" cy="33075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Gerade Verbindung mit Pfeil 105">
                  <a:extLst>
                    <a:ext uri="{FF2B5EF4-FFF2-40B4-BE49-F238E27FC236}">
                      <a16:creationId xmlns:a16="http://schemas.microsoft.com/office/drawing/2014/main" id="{FDC6A78F-65FE-24CF-209F-2B4927B4C3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3739" y="3696454"/>
                  <a:ext cx="0" cy="31965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7" name="Textfeld 106">
                <a:extLst>
                  <a:ext uri="{FF2B5EF4-FFF2-40B4-BE49-F238E27FC236}">
                    <a16:creationId xmlns:a16="http://schemas.microsoft.com/office/drawing/2014/main" id="{32B11087-7A10-B6F9-45DA-08DDD63DE970}"/>
                  </a:ext>
                </a:extLst>
              </p:cNvPr>
              <p:cNvSpPr txBox="1"/>
              <p:nvPr/>
            </p:nvSpPr>
            <p:spPr>
              <a:xfrm>
                <a:off x="7046586" y="1958477"/>
                <a:ext cx="3211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+</a:t>
                </a:r>
              </a:p>
            </p:txBody>
          </p:sp>
          <p:sp>
            <p:nvSpPr>
              <p:cNvPr id="108" name="Textfeld 107">
                <a:extLst>
                  <a:ext uri="{FF2B5EF4-FFF2-40B4-BE49-F238E27FC236}">
                    <a16:creationId xmlns:a16="http://schemas.microsoft.com/office/drawing/2014/main" id="{38A64CA6-BBC6-B3A1-08D6-9E93F7B31FC1}"/>
                  </a:ext>
                </a:extLst>
              </p:cNvPr>
              <p:cNvSpPr txBox="1"/>
              <p:nvPr/>
            </p:nvSpPr>
            <p:spPr>
              <a:xfrm>
                <a:off x="6234552" y="1958477"/>
                <a:ext cx="3211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+</a:t>
                </a:r>
              </a:p>
            </p:txBody>
          </p:sp>
          <p:grpSp>
            <p:nvGrpSpPr>
              <p:cNvPr id="110" name="Gruppieren 109">
                <a:extLst>
                  <a:ext uri="{FF2B5EF4-FFF2-40B4-BE49-F238E27FC236}">
                    <a16:creationId xmlns:a16="http://schemas.microsoft.com/office/drawing/2014/main" id="{8711DE7B-9A57-807C-AC7E-F592A14E4C36}"/>
                  </a:ext>
                </a:extLst>
              </p:cNvPr>
              <p:cNvGrpSpPr/>
              <p:nvPr/>
            </p:nvGrpSpPr>
            <p:grpSpPr>
              <a:xfrm>
                <a:off x="5829985" y="1761424"/>
                <a:ext cx="500097" cy="873353"/>
                <a:chOff x="8067352" y="3142757"/>
                <a:chExt cx="500097" cy="873353"/>
              </a:xfrm>
            </p:grpSpPr>
            <p:pic>
              <p:nvPicPr>
                <p:cNvPr id="111" name="Grafik 110">
                  <a:extLst>
                    <a:ext uri="{FF2B5EF4-FFF2-40B4-BE49-F238E27FC236}">
                      <a16:creationId xmlns:a16="http://schemas.microsoft.com/office/drawing/2014/main" id="{94C0E39F-70A7-9DAA-7AC9-F4A4BBE67A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8561" t="18871" r="19073" b="19391"/>
                <a:stretch/>
              </p:blipFill>
              <p:spPr>
                <a:xfrm>
                  <a:off x="8067352" y="3142757"/>
                  <a:ext cx="500097" cy="495058"/>
                </a:xfrm>
                <a:prstGeom prst="rect">
                  <a:avLst/>
                </a:prstGeom>
              </p:spPr>
            </p:pic>
            <p:cxnSp>
              <p:nvCxnSpPr>
                <p:cNvPr id="112" name="Gerade Verbindung mit Pfeil 111">
                  <a:extLst>
                    <a:ext uri="{FF2B5EF4-FFF2-40B4-BE49-F238E27FC236}">
                      <a16:creationId xmlns:a16="http://schemas.microsoft.com/office/drawing/2014/main" id="{58F99C2D-F7B6-F562-663B-02573A2EB7D8}"/>
                    </a:ext>
                  </a:extLst>
                </p:cNvPr>
                <p:cNvCxnSpPr>
                  <a:stCxn id="111" idx="2"/>
                </p:cNvCxnSpPr>
                <p:nvPr/>
              </p:nvCxnSpPr>
              <p:spPr>
                <a:xfrm flipH="1">
                  <a:off x="8317400" y="3637815"/>
                  <a:ext cx="1" cy="33075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Gerade Verbindung mit Pfeil 112">
                  <a:extLst>
                    <a:ext uri="{FF2B5EF4-FFF2-40B4-BE49-F238E27FC236}">
                      <a16:creationId xmlns:a16="http://schemas.microsoft.com/office/drawing/2014/main" id="{88CE5406-2BD7-E349-EB47-63A9C019FB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3739" y="3696454"/>
                  <a:ext cx="0" cy="31965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" name="Gruppieren 7">
              <a:extLst>
                <a:ext uri="{FF2B5EF4-FFF2-40B4-BE49-F238E27FC236}">
                  <a16:creationId xmlns:a16="http://schemas.microsoft.com/office/drawing/2014/main" id="{BB43375D-8215-ACFA-0047-B8D1D8D79461}"/>
                </a:ext>
              </a:extLst>
            </p:cNvPr>
            <p:cNvGrpSpPr/>
            <p:nvPr/>
          </p:nvGrpSpPr>
          <p:grpSpPr>
            <a:xfrm>
              <a:off x="4138465" y="641564"/>
              <a:ext cx="3322155" cy="1461113"/>
              <a:chOff x="4138465" y="641564"/>
              <a:chExt cx="3322155" cy="1461113"/>
            </a:xfrm>
          </p:grpSpPr>
          <p:grpSp>
            <p:nvGrpSpPr>
              <p:cNvPr id="162" name="Gruppieren 161">
                <a:extLst>
                  <a:ext uri="{FF2B5EF4-FFF2-40B4-BE49-F238E27FC236}">
                    <a16:creationId xmlns:a16="http://schemas.microsoft.com/office/drawing/2014/main" id="{FBD5EBE8-B891-64AE-9460-F06225B1161A}"/>
                  </a:ext>
                </a:extLst>
              </p:cNvPr>
              <p:cNvGrpSpPr/>
              <p:nvPr/>
            </p:nvGrpSpPr>
            <p:grpSpPr>
              <a:xfrm>
                <a:off x="4138465" y="641564"/>
                <a:ext cx="3322155" cy="1461113"/>
                <a:chOff x="4073078" y="1332095"/>
                <a:chExt cx="3322155" cy="1461113"/>
              </a:xfrm>
            </p:grpSpPr>
            <p:grpSp>
              <p:nvGrpSpPr>
                <p:cNvPr id="62" name="Gruppieren 61">
                  <a:extLst>
                    <a:ext uri="{FF2B5EF4-FFF2-40B4-BE49-F238E27FC236}">
                      <a16:creationId xmlns:a16="http://schemas.microsoft.com/office/drawing/2014/main" id="{B8D676BB-6D5A-062A-396A-B5D55F48313B}"/>
                    </a:ext>
                  </a:extLst>
                </p:cNvPr>
                <p:cNvGrpSpPr/>
                <p:nvPr/>
              </p:nvGrpSpPr>
              <p:grpSpPr>
                <a:xfrm>
                  <a:off x="4073078" y="1614304"/>
                  <a:ext cx="1135582" cy="1097833"/>
                  <a:chOff x="3851693" y="1757940"/>
                  <a:chExt cx="1135582" cy="1097833"/>
                </a:xfrm>
              </p:grpSpPr>
              <p:pic>
                <p:nvPicPr>
                  <p:cNvPr id="34" name="Grafik 33">
                    <a:extLst>
                      <a:ext uri="{FF2B5EF4-FFF2-40B4-BE49-F238E27FC236}">
                        <a16:creationId xmlns:a16="http://schemas.microsoft.com/office/drawing/2014/main" id="{D818B66D-BEC4-B833-A92C-F3528935425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232788" y="1757940"/>
                    <a:ext cx="754487" cy="1097833"/>
                  </a:xfrm>
                  <a:prstGeom prst="rect">
                    <a:avLst/>
                  </a:prstGeom>
                </p:spPr>
              </p:pic>
              <p:grpSp>
                <p:nvGrpSpPr>
                  <p:cNvPr id="41" name="Gruppieren 40">
                    <a:extLst>
                      <a:ext uri="{FF2B5EF4-FFF2-40B4-BE49-F238E27FC236}">
                        <a16:creationId xmlns:a16="http://schemas.microsoft.com/office/drawing/2014/main" id="{E91CC253-A385-4FEC-3DD3-E31B5F8E0A81}"/>
                      </a:ext>
                    </a:extLst>
                  </p:cNvPr>
                  <p:cNvGrpSpPr/>
                  <p:nvPr/>
                </p:nvGrpSpPr>
                <p:grpSpPr>
                  <a:xfrm>
                    <a:off x="4105760" y="1768491"/>
                    <a:ext cx="99628" cy="1040029"/>
                    <a:chOff x="3957692" y="1709546"/>
                    <a:chExt cx="99628" cy="1040029"/>
                  </a:xfrm>
                </p:grpSpPr>
                <p:cxnSp>
                  <p:nvCxnSpPr>
                    <p:cNvPr id="36" name="Gerader Verbinder 35">
                      <a:extLst>
                        <a:ext uri="{FF2B5EF4-FFF2-40B4-BE49-F238E27FC236}">
                          <a16:creationId xmlns:a16="http://schemas.microsoft.com/office/drawing/2014/main" id="{467E9C28-9D02-B169-1887-8DB0440C394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012748" y="1709546"/>
                      <a:ext cx="0" cy="1040029"/>
                    </a:xfrm>
                    <a:prstGeom prst="line">
                      <a:avLst/>
                    </a:prstGeom>
                    <a:ln w="1905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" name="Gerader Verbinder 36">
                      <a:extLst>
                        <a:ext uri="{FF2B5EF4-FFF2-40B4-BE49-F238E27FC236}">
                          <a16:creationId xmlns:a16="http://schemas.microsoft.com/office/drawing/2014/main" id="{AFB7B44B-E9E4-A802-681E-95BD7E4DE75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957692" y="2749575"/>
                      <a:ext cx="99628" cy="0"/>
                    </a:xfrm>
                    <a:prstGeom prst="line">
                      <a:avLst/>
                    </a:prstGeom>
                    <a:ln w="1905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" name="Gerader Verbinder 38">
                      <a:extLst>
                        <a:ext uri="{FF2B5EF4-FFF2-40B4-BE49-F238E27FC236}">
                          <a16:creationId xmlns:a16="http://schemas.microsoft.com/office/drawing/2014/main" id="{EECDE8D6-368C-86DC-BB00-B4AC96D1409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957692" y="1718842"/>
                      <a:ext cx="99628" cy="0"/>
                    </a:xfrm>
                    <a:prstGeom prst="line">
                      <a:avLst/>
                    </a:prstGeom>
                    <a:ln w="1905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55" name="Textfeld 54">
                    <a:extLst>
                      <a:ext uri="{FF2B5EF4-FFF2-40B4-BE49-F238E27FC236}">
                        <a16:creationId xmlns:a16="http://schemas.microsoft.com/office/drawing/2014/main" id="{847DCF74-A1F3-1EE8-DCB6-5F133EDE3556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3874341" y="2122191"/>
                    <a:ext cx="32403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/>
                      <a:t>h</a:t>
                    </a:r>
                  </a:p>
                </p:txBody>
              </p:sp>
            </p:grpSp>
            <p:pic>
              <p:nvPicPr>
                <p:cNvPr id="147" name="Grafik 146">
                  <a:extLst>
                    <a:ext uri="{FF2B5EF4-FFF2-40B4-BE49-F238E27FC236}">
                      <a16:creationId xmlns:a16="http://schemas.microsoft.com/office/drawing/2014/main" id="{128AD108-445E-895A-E595-AA4F548938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50101" y="1654397"/>
                  <a:ext cx="754487" cy="1097833"/>
                </a:xfrm>
                <a:prstGeom prst="rect">
                  <a:avLst/>
                </a:prstGeom>
              </p:spPr>
            </p:pic>
            <p:cxnSp>
              <p:nvCxnSpPr>
                <p:cNvPr id="148" name="Gerader Verbinder 147">
                  <a:extLst>
                    <a:ext uri="{FF2B5EF4-FFF2-40B4-BE49-F238E27FC236}">
                      <a16:creationId xmlns:a16="http://schemas.microsoft.com/office/drawing/2014/main" id="{47765A8D-5042-4DC7-BBB8-00E9695E8E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478755" y="1563247"/>
                  <a:ext cx="0" cy="108012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Gerader Verbinder 149">
                  <a:extLst>
                    <a:ext uri="{FF2B5EF4-FFF2-40B4-BE49-F238E27FC236}">
                      <a16:creationId xmlns:a16="http://schemas.microsoft.com/office/drawing/2014/main" id="{A34E4F07-A5F5-E2F7-DDE5-14FDDA124F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486429" y="1616143"/>
                  <a:ext cx="661003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4" name="Textfeld 153">
                  <a:extLst>
                    <a:ext uri="{FF2B5EF4-FFF2-40B4-BE49-F238E27FC236}">
                      <a16:creationId xmlns:a16="http://schemas.microsoft.com/office/drawing/2014/main" id="{1D2A2C50-7226-DBB5-EB16-86E713673BF6}"/>
                    </a:ext>
                  </a:extLst>
                </p:cNvPr>
                <p:cNvSpPr txBox="1"/>
                <p:nvPr/>
              </p:nvSpPr>
              <p:spPr>
                <a:xfrm>
                  <a:off x="5608569" y="1332095"/>
                  <a:ext cx="3240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%</a:t>
                  </a:r>
                </a:p>
              </p:txBody>
            </p:sp>
            <p:grpSp>
              <p:nvGrpSpPr>
                <p:cNvPr id="155" name="Gruppieren 154">
                  <a:extLst>
                    <a:ext uri="{FF2B5EF4-FFF2-40B4-BE49-F238E27FC236}">
                      <a16:creationId xmlns:a16="http://schemas.microsoft.com/office/drawing/2014/main" id="{CB048BFA-171A-2EE3-966F-2F024B9C5BB1}"/>
                    </a:ext>
                  </a:extLst>
                </p:cNvPr>
                <p:cNvGrpSpPr/>
                <p:nvPr/>
              </p:nvGrpSpPr>
              <p:grpSpPr>
                <a:xfrm>
                  <a:off x="6276074" y="1695375"/>
                  <a:ext cx="1119159" cy="1097833"/>
                  <a:chOff x="3868116" y="1757940"/>
                  <a:chExt cx="1119159" cy="1097833"/>
                </a:xfrm>
              </p:grpSpPr>
              <p:pic>
                <p:nvPicPr>
                  <p:cNvPr id="156" name="Grafik 155">
                    <a:extLst>
                      <a:ext uri="{FF2B5EF4-FFF2-40B4-BE49-F238E27FC236}">
                        <a16:creationId xmlns:a16="http://schemas.microsoft.com/office/drawing/2014/main" id="{48A66A8A-4C83-1840-AB43-0EDA7652385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232788" y="1757940"/>
                    <a:ext cx="754487" cy="1097833"/>
                  </a:xfrm>
                  <a:prstGeom prst="rect">
                    <a:avLst/>
                  </a:prstGeom>
                </p:spPr>
              </p:pic>
              <p:grpSp>
                <p:nvGrpSpPr>
                  <p:cNvPr id="157" name="Gruppieren 156">
                    <a:extLst>
                      <a:ext uri="{FF2B5EF4-FFF2-40B4-BE49-F238E27FC236}">
                        <a16:creationId xmlns:a16="http://schemas.microsoft.com/office/drawing/2014/main" id="{671DE600-816A-BF1F-3AD5-77265A12588C}"/>
                      </a:ext>
                    </a:extLst>
                  </p:cNvPr>
                  <p:cNvGrpSpPr/>
                  <p:nvPr/>
                </p:nvGrpSpPr>
                <p:grpSpPr>
                  <a:xfrm>
                    <a:off x="4105760" y="1768491"/>
                    <a:ext cx="99628" cy="1040029"/>
                    <a:chOff x="3957692" y="1709546"/>
                    <a:chExt cx="99628" cy="1040029"/>
                  </a:xfrm>
                </p:grpSpPr>
                <p:cxnSp>
                  <p:nvCxnSpPr>
                    <p:cNvPr id="159" name="Gerader Verbinder 158">
                      <a:extLst>
                        <a:ext uri="{FF2B5EF4-FFF2-40B4-BE49-F238E27FC236}">
                          <a16:creationId xmlns:a16="http://schemas.microsoft.com/office/drawing/2014/main" id="{5A026499-BA9A-02C7-8A80-CB9A5043022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012748" y="1709546"/>
                      <a:ext cx="0" cy="1040029"/>
                    </a:xfrm>
                    <a:prstGeom prst="line">
                      <a:avLst/>
                    </a:prstGeom>
                    <a:ln w="1905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0" name="Gerader Verbinder 159">
                      <a:extLst>
                        <a:ext uri="{FF2B5EF4-FFF2-40B4-BE49-F238E27FC236}">
                          <a16:creationId xmlns:a16="http://schemas.microsoft.com/office/drawing/2014/main" id="{271405FE-88AC-6AF9-4E6F-99BBF8245DC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957692" y="2749575"/>
                      <a:ext cx="99628" cy="0"/>
                    </a:xfrm>
                    <a:prstGeom prst="line">
                      <a:avLst/>
                    </a:prstGeom>
                    <a:ln w="1905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1" name="Gerader Verbinder 160">
                      <a:extLst>
                        <a:ext uri="{FF2B5EF4-FFF2-40B4-BE49-F238E27FC236}">
                          <a16:creationId xmlns:a16="http://schemas.microsoft.com/office/drawing/2014/main" id="{31CEFBDF-60A5-E181-9315-E573BB65D9A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957692" y="1718842"/>
                      <a:ext cx="99628" cy="0"/>
                    </a:xfrm>
                    <a:prstGeom prst="line">
                      <a:avLst/>
                    </a:prstGeom>
                    <a:ln w="1905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58" name="Textfeld 157">
                    <a:extLst>
                      <a:ext uri="{FF2B5EF4-FFF2-40B4-BE49-F238E27FC236}">
                        <a16:creationId xmlns:a16="http://schemas.microsoft.com/office/drawing/2014/main" id="{7A042E3A-8E1A-6A55-6AF3-F52EB8B67520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3533181" y="2141306"/>
                    <a:ext cx="100842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dirty="0"/>
                      <a:t>Biomass</a:t>
                    </a:r>
                  </a:p>
                </p:txBody>
              </p:sp>
            </p:grpSp>
          </p:grpSp>
          <p:cxnSp>
            <p:nvCxnSpPr>
              <p:cNvPr id="169" name="Gerader Verbinder 168">
                <a:extLst>
                  <a:ext uri="{FF2B5EF4-FFF2-40B4-BE49-F238E27FC236}">
                    <a16:creationId xmlns:a16="http://schemas.microsoft.com/office/drawing/2014/main" id="{3375F6CC-1CC4-47F7-A9DB-B45270AB06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09601" y="874469"/>
                <a:ext cx="0" cy="108012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70" name="Textfeld 169">
            <a:extLst>
              <a:ext uri="{FF2B5EF4-FFF2-40B4-BE49-F238E27FC236}">
                <a16:creationId xmlns:a16="http://schemas.microsoft.com/office/drawing/2014/main" id="{8B6EFA50-88DE-3ADD-A399-D6E794D0C176}"/>
              </a:ext>
            </a:extLst>
          </p:cNvPr>
          <p:cNvSpPr txBox="1"/>
          <p:nvPr/>
        </p:nvSpPr>
        <p:spPr>
          <a:xfrm rot="16200000">
            <a:off x="7756031" y="3502862"/>
            <a:ext cx="64726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Graphics from 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https://ian.umces.edu/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https://www.vecteezy.com/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and 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https://shop.laserscanning-europe.com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(accessed on 28.08.2025)</a:t>
            </a: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17C07A8E-2985-9A7C-D9D9-843324FCF9FB}"/>
              </a:ext>
            </a:extLst>
          </p:cNvPr>
          <p:cNvGrpSpPr/>
          <p:nvPr/>
        </p:nvGrpSpPr>
        <p:grpSpPr>
          <a:xfrm>
            <a:off x="293891" y="3677923"/>
            <a:ext cx="10398594" cy="1378339"/>
            <a:chOff x="293891" y="3677923"/>
            <a:chExt cx="10398594" cy="1378339"/>
          </a:xfrm>
          <a:noFill/>
        </p:grpSpPr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6B70E49C-1EB6-99D2-A9E9-EF1206F80317}"/>
                </a:ext>
              </a:extLst>
            </p:cNvPr>
            <p:cNvSpPr/>
            <p:nvPr/>
          </p:nvSpPr>
          <p:spPr>
            <a:xfrm>
              <a:off x="293891" y="3948774"/>
              <a:ext cx="3781337" cy="75448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>
                <a:buFont typeface="+mj-lt"/>
                <a:buAutoNum type="arabicPeriod" startAt="3"/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Multi-platform and multi-sensor assessment of forest structure</a:t>
              </a:r>
            </a:p>
          </p:txBody>
        </p:sp>
        <p:grpSp>
          <p:nvGrpSpPr>
            <p:cNvPr id="142" name="Gruppieren 141">
              <a:extLst>
                <a:ext uri="{FF2B5EF4-FFF2-40B4-BE49-F238E27FC236}">
                  <a16:creationId xmlns:a16="http://schemas.microsoft.com/office/drawing/2014/main" id="{62C43A0F-59DE-19E2-FAD2-B560D898F914}"/>
                </a:ext>
              </a:extLst>
            </p:cNvPr>
            <p:cNvGrpSpPr/>
            <p:nvPr/>
          </p:nvGrpSpPr>
          <p:grpSpPr>
            <a:xfrm>
              <a:off x="8348172" y="4192366"/>
              <a:ext cx="2344313" cy="528788"/>
              <a:chOff x="7676864" y="4640164"/>
              <a:chExt cx="2344313" cy="528788"/>
            </a:xfrm>
            <a:grpFill/>
          </p:grpSpPr>
          <p:pic>
            <p:nvPicPr>
              <p:cNvPr id="87" name="Grafik 86">
                <a:extLst>
                  <a:ext uri="{FF2B5EF4-FFF2-40B4-BE49-F238E27FC236}">
                    <a16:creationId xmlns:a16="http://schemas.microsoft.com/office/drawing/2014/main" id="{ECC4D828-0209-D655-84A6-8441282BA0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8561" t="18871" r="19073" b="19391"/>
              <a:stretch/>
            </p:blipFill>
            <p:spPr>
              <a:xfrm>
                <a:off x="9521080" y="4640164"/>
                <a:ext cx="500097" cy="495058"/>
              </a:xfrm>
              <a:prstGeom prst="rect">
                <a:avLst/>
              </a:prstGeom>
              <a:grpFill/>
              <a:ln>
                <a:noFill/>
              </a:ln>
            </p:spPr>
          </p:pic>
          <p:pic>
            <p:nvPicPr>
              <p:cNvPr id="88" name="Grafik 87">
                <a:extLst>
                  <a:ext uri="{FF2B5EF4-FFF2-40B4-BE49-F238E27FC236}">
                    <a16:creationId xmlns:a16="http://schemas.microsoft.com/office/drawing/2014/main" id="{B6CE5C2A-D0B7-F3F6-5712-8CFFCA97CA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8425" r="55010"/>
              <a:stretch/>
            </p:blipFill>
            <p:spPr>
              <a:xfrm>
                <a:off x="8675497" y="4690519"/>
                <a:ext cx="406464" cy="465956"/>
              </a:xfrm>
              <a:prstGeom prst="rect">
                <a:avLst/>
              </a:prstGeom>
              <a:grpFill/>
              <a:ln>
                <a:noFill/>
              </a:ln>
            </p:spPr>
          </p:pic>
          <p:pic>
            <p:nvPicPr>
              <p:cNvPr id="89" name="Grafik 88">
                <a:extLst>
                  <a:ext uri="{FF2B5EF4-FFF2-40B4-BE49-F238E27FC236}">
                    <a16:creationId xmlns:a16="http://schemas.microsoft.com/office/drawing/2014/main" id="{39D50F3A-6C36-E0B9-6845-69191EAB36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990" t="33413" b="33725"/>
              <a:stretch/>
            </p:blipFill>
            <p:spPr>
              <a:xfrm flipH="1">
                <a:off x="7676864" y="4687474"/>
                <a:ext cx="628898" cy="481478"/>
              </a:xfrm>
              <a:prstGeom prst="rect">
                <a:avLst/>
              </a:prstGeom>
              <a:grpFill/>
              <a:ln>
                <a:noFill/>
              </a:ln>
            </p:spPr>
          </p:pic>
          <p:sp>
            <p:nvSpPr>
              <p:cNvPr id="114" name="Textfeld 113">
                <a:extLst>
                  <a:ext uri="{FF2B5EF4-FFF2-40B4-BE49-F238E27FC236}">
                    <a16:creationId xmlns:a16="http://schemas.microsoft.com/office/drawing/2014/main" id="{0E046F07-5A47-CF73-8293-0A07D41C584E}"/>
                  </a:ext>
                </a:extLst>
              </p:cNvPr>
              <p:cNvSpPr txBox="1"/>
              <p:nvPr/>
            </p:nvSpPr>
            <p:spPr>
              <a:xfrm>
                <a:off x="8259688" y="4661417"/>
                <a:ext cx="638256" cy="369332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vs.</a:t>
                </a:r>
              </a:p>
            </p:txBody>
          </p:sp>
          <p:sp>
            <p:nvSpPr>
              <p:cNvPr id="115" name="Textfeld 114">
                <a:extLst>
                  <a:ext uri="{FF2B5EF4-FFF2-40B4-BE49-F238E27FC236}">
                    <a16:creationId xmlns:a16="http://schemas.microsoft.com/office/drawing/2014/main" id="{65416938-B7C0-9D63-FEAD-6814492DF980}"/>
                  </a:ext>
                </a:extLst>
              </p:cNvPr>
              <p:cNvSpPr txBox="1"/>
              <p:nvPr/>
            </p:nvSpPr>
            <p:spPr>
              <a:xfrm>
                <a:off x="9062118" y="4671416"/>
                <a:ext cx="638256" cy="369332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vs.</a:t>
                </a:r>
              </a:p>
            </p:txBody>
          </p:sp>
        </p:grpSp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1F480219-BEF6-09E6-0E6E-79C1A78A7E72}"/>
                </a:ext>
              </a:extLst>
            </p:cNvPr>
            <p:cNvGrpSpPr/>
            <p:nvPr/>
          </p:nvGrpSpPr>
          <p:grpSpPr>
            <a:xfrm>
              <a:off x="4747469" y="3677923"/>
              <a:ext cx="3287522" cy="1378339"/>
              <a:chOff x="4747469" y="3677923"/>
              <a:chExt cx="3287522" cy="1378339"/>
            </a:xfrm>
            <a:grpFill/>
          </p:grpSpPr>
          <p:grpSp>
            <p:nvGrpSpPr>
              <p:cNvPr id="163" name="Gruppieren 162">
                <a:extLst>
                  <a:ext uri="{FF2B5EF4-FFF2-40B4-BE49-F238E27FC236}">
                    <a16:creationId xmlns:a16="http://schemas.microsoft.com/office/drawing/2014/main" id="{CD24A903-8D1E-02D0-8B96-D370179A6456}"/>
                  </a:ext>
                </a:extLst>
              </p:cNvPr>
              <p:cNvGrpSpPr/>
              <p:nvPr/>
            </p:nvGrpSpPr>
            <p:grpSpPr>
              <a:xfrm>
                <a:off x="4747469" y="3677923"/>
                <a:ext cx="3287522" cy="1378339"/>
                <a:chOff x="4178027" y="4149376"/>
                <a:chExt cx="3287522" cy="1378339"/>
              </a:xfrm>
              <a:grpFill/>
            </p:grpSpPr>
            <p:pic>
              <p:nvPicPr>
                <p:cNvPr id="116" name="Grafik 115">
                  <a:extLst>
                    <a:ext uri="{FF2B5EF4-FFF2-40B4-BE49-F238E27FC236}">
                      <a16:creationId xmlns:a16="http://schemas.microsoft.com/office/drawing/2014/main" id="{C85500B9-D7C7-3B3B-AA9F-D200E23B79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407438" y="4203385"/>
                  <a:ext cx="499294" cy="1324330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  <p:pic>
              <p:nvPicPr>
                <p:cNvPr id="82" name="Grafik 81">
                  <a:extLst>
                    <a:ext uri="{FF2B5EF4-FFF2-40B4-BE49-F238E27FC236}">
                      <a16:creationId xmlns:a16="http://schemas.microsoft.com/office/drawing/2014/main" id="{40575D80-F969-EAD9-7087-13303241D8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86400" y="4154844"/>
                  <a:ext cx="499294" cy="1324330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  <p:pic>
              <p:nvPicPr>
                <p:cNvPr id="80" name="Grafik 79">
                  <a:extLst>
                    <a:ext uri="{FF2B5EF4-FFF2-40B4-BE49-F238E27FC236}">
                      <a16:creationId xmlns:a16="http://schemas.microsoft.com/office/drawing/2014/main" id="{D17904F4-097D-8FDE-EBCD-9597B1B782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78027" y="4377215"/>
                  <a:ext cx="644460" cy="937736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  <p:pic>
              <p:nvPicPr>
                <p:cNvPr id="81" name="Grafik 80">
                  <a:extLst>
                    <a:ext uri="{FF2B5EF4-FFF2-40B4-BE49-F238E27FC236}">
                      <a16:creationId xmlns:a16="http://schemas.microsoft.com/office/drawing/2014/main" id="{25962482-8570-82EE-32AF-377EF18220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95638" y="4510982"/>
                  <a:ext cx="353542" cy="937736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  <p:sp>
              <p:nvSpPr>
                <p:cNvPr id="83" name="Textfeld 82">
                  <a:extLst>
                    <a:ext uri="{FF2B5EF4-FFF2-40B4-BE49-F238E27FC236}">
                      <a16:creationId xmlns:a16="http://schemas.microsoft.com/office/drawing/2014/main" id="{4D43C6AF-02F1-69FB-D693-11C134389724}"/>
                    </a:ext>
                  </a:extLst>
                </p:cNvPr>
                <p:cNvSpPr txBox="1"/>
                <p:nvPr/>
              </p:nvSpPr>
              <p:spPr>
                <a:xfrm>
                  <a:off x="5487473" y="4762486"/>
                  <a:ext cx="638256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vs.</a:t>
                  </a:r>
                </a:p>
              </p:txBody>
            </p:sp>
            <p:pic>
              <p:nvPicPr>
                <p:cNvPr id="84" name="Grafik 83">
                  <a:extLst>
                    <a:ext uri="{FF2B5EF4-FFF2-40B4-BE49-F238E27FC236}">
                      <a16:creationId xmlns:a16="http://schemas.microsoft.com/office/drawing/2014/main" id="{E0AEE7AD-AFDB-D718-F0F3-2DB0DB2B9B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66255" y="4149376"/>
                  <a:ext cx="499294" cy="1324330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  <p:pic>
              <p:nvPicPr>
                <p:cNvPr id="85" name="Grafik 84">
                  <a:extLst>
                    <a:ext uri="{FF2B5EF4-FFF2-40B4-BE49-F238E27FC236}">
                      <a16:creationId xmlns:a16="http://schemas.microsoft.com/office/drawing/2014/main" id="{2CE818D3-A70E-075E-886E-2988D782E9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86923" y="4494839"/>
                  <a:ext cx="644460" cy="937736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</p:grpSp>
          <p:pic>
            <p:nvPicPr>
              <p:cNvPr id="5" name="Grafik 4">
                <a:extLst>
                  <a:ext uri="{FF2B5EF4-FFF2-40B4-BE49-F238E27FC236}">
                    <a16:creationId xmlns:a16="http://schemas.microsoft.com/office/drawing/2014/main" id="{16AF9EA2-6385-FFA8-9C7E-DD7A6E098F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41873" y="3948774"/>
                <a:ext cx="353542" cy="937736"/>
              </a:xfrm>
              <a:prstGeom prst="rect">
                <a:avLst/>
              </a:prstGeom>
              <a:grpFill/>
              <a:ln>
                <a:noFill/>
              </a:ln>
            </p:spPr>
          </p:pic>
        </p:grp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11A6D523-FBA2-8495-D6C3-474766CE9146}"/>
              </a:ext>
            </a:extLst>
          </p:cNvPr>
          <p:cNvGrpSpPr/>
          <p:nvPr/>
        </p:nvGrpSpPr>
        <p:grpSpPr>
          <a:xfrm>
            <a:off x="289823" y="5348792"/>
            <a:ext cx="9990712" cy="1108014"/>
            <a:chOff x="293190" y="5155671"/>
            <a:chExt cx="9990712" cy="1108014"/>
          </a:xfrm>
          <a:noFill/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D4409A4C-3D99-1F3E-DECB-38F410135A2E}"/>
                </a:ext>
              </a:extLst>
            </p:cNvPr>
            <p:cNvSpPr/>
            <p:nvPr/>
          </p:nvSpPr>
          <p:spPr>
            <a:xfrm>
              <a:off x="293190" y="5263484"/>
              <a:ext cx="3782039" cy="75448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>
                <a:buFont typeface="+mj-lt"/>
                <a:buAutoNum type="arabicPeriod" startAt="4"/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Investigating forest structure-biodiversity relationships</a:t>
              </a:r>
            </a:p>
          </p:txBody>
        </p:sp>
        <p:grpSp>
          <p:nvGrpSpPr>
            <p:cNvPr id="143" name="Gruppieren 142">
              <a:extLst>
                <a:ext uri="{FF2B5EF4-FFF2-40B4-BE49-F238E27FC236}">
                  <a16:creationId xmlns:a16="http://schemas.microsoft.com/office/drawing/2014/main" id="{CD341AD2-44F4-E920-473C-9BAC1F0C0542}"/>
                </a:ext>
              </a:extLst>
            </p:cNvPr>
            <p:cNvGrpSpPr/>
            <p:nvPr/>
          </p:nvGrpSpPr>
          <p:grpSpPr>
            <a:xfrm>
              <a:off x="8350523" y="5288670"/>
              <a:ext cx="1933379" cy="881700"/>
              <a:chOff x="7351085" y="5899274"/>
              <a:chExt cx="1933379" cy="881700"/>
            </a:xfrm>
            <a:grpFill/>
          </p:grpSpPr>
          <p:grpSp>
            <p:nvGrpSpPr>
              <p:cNvPr id="121" name="Gruppieren 120">
                <a:extLst>
                  <a:ext uri="{FF2B5EF4-FFF2-40B4-BE49-F238E27FC236}">
                    <a16:creationId xmlns:a16="http://schemas.microsoft.com/office/drawing/2014/main" id="{ED43639F-06BD-FDFF-D05E-36DB9BC0BCA4}"/>
                  </a:ext>
                </a:extLst>
              </p:cNvPr>
              <p:cNvGrpSpPr/>
              <p:nvPr/>
            </p:nvGrpSpPr>
            <p:grpSpPr>
              <a:xfrm>
                <a:off x="8042106" y="5901679"/>
                <a:ext cx="500097" cy="852873"/>
                <a:chOff x="6143451" y="1778114"/>
                <a:chExt cx="500097" cy="852873"/>
              </a:xfrm>
              <a:grpFill/>
            </p:grpSpPr>
            <p:pic>
              <p:nvPicPr>
                <p:cNvPr id="122" name="Grafik 121">
                  <a:extLst>
                    <a:ext uri="{FF2B5EF4-FFF2-40B4-BE49-F238E27FC236}">
                      <a16:creationId xmlns:a16="http://schemas.microsoft.com/office/drawing/2014/main" id="{9A9DC6F1-59E7-7C8F-3886-5C418BD857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8561" t="18871" r="19073" b="19391"/>
                <a:stretch/>
              </p:blipFill>
              <p:spPr>
                <a:xfrm>
                  <a:off x="6143451" y="1778114"/>
                  <a:ext cx="500097" cy="495058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  <p:sp>
              <p:nvSpPr>
                <p:cNvPr id="123" name="Gleichschenkliges Dreieck 122">
                  <a:extLst>
                    <a:ext uri="{FF2B5EF4-FFF2-40B4-BE49-F238E27FC236}">
                      <a16:creationId xmlns:a16="http://schemas.microsoft.com/office/drawing/2014/main" id="{7D8E43C8-CE9B-EF20-E918-C2ED3E61F01F}"/>
                    </a:ext>
                  </a:extLst>
                </p:cNvPr>
                <p:cNvSpPr/>
                <p:nvPr/>
              </p:nvSpPr>
              <p:spPr>
                <a:xfrm>
                  <a:off x="6220075" y="2196968"/>
                  <a:ext cx="173764" cy="434019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4" name="Gruppieren 123">
                <a:extLst>
                  <a:ext uri="{FF2B5EF4-FFF2-40B4-BE49-F238E27FC236}">
                    <a16:creationId xmlns:a16="http://schemas.microsoft.com/office/drawing/2014/main" id="{5EEB4F22-F603-DC69-36EF-C73B85A118F6}"/>
                  </a:ext>
                </a:extLst>
              </p:cNvPr>
              <p:cNvGrpSpPr/>
              <p:nvPr/>
            </p:nvGrpSpPr>
            <p:grpSpPr>
              <a:xfrm>
                <a:off x="8784367" y="5899274"/>
                <a:ext cx="500097" cy="881700"/>
                <a:chOff x="8273797" y="3146744"/>
                <a:chExt cx="500097" cy="881700"/>
              </a:xfrm>
              <a:grpFill/>
            </p:grpSpPr>
            <p:pic>
              <p:nvPicPr>
                <p:cNvPr id="125" name="Grafik 124">
                  <a:extLst>
                    <a:ext uri="{FF2B5EF4-FFF2-40B4-BE49-F238E27FC236}">
                      <a16:creationId xmlns:a16="http://schemas.microsoft.com/office/drawing/2014/main" id="{7A0D5283-58DF-E1B9-EA96-D7846D5EF6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8561" t="18871" r="19073" b="19391"/>
                <a:stretch/>
              </p:blipFill>
              <p:spPr>
                <a:xfrm>
                  <a:off x="8273797" y="3146744"/>
                  <a:ext cx="500097" cy="495058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  <p:cxnSp>
              <p:nvCxnSpPr>
                <p:cNvPr id="126" name="Gerade Verbindung mit Pfeil 125">
                  <a:extLst>
                    <a:ext uri="{FF2B5EF4-FFF2-40B4-BE49-F238E27FC236}">
                      <a16:creationId xmlns:a16="http://schemas.microsoft.com/office/drawing/2014/main" id="{F77D7F00-9DF1-6561-BE4F-B19FE99819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309292" y="3697694"/>
                  <a:ext cx="1" cy="330750"/>
                </a:xfrm>
                <a:prstGeom prst="straightConnector1">
                  <a:avLst/>
                </a:prstGeom>
                <a:grpFill/>
                <a:ln>
                  <a:noFill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Gerade Verbindung mit Pfeil 126">
                  <a:extLst>
                    <a:ext uri="{FF2B5EF4-FFF2-40B4-BE49-F238E27FC236}">
                      <a16:creationId xmlns:a16="http://schemas.microsoft.com/office/drawing/2014/main" id="{D61FA7CE-C775-95A4-CD42-A971EFDDA3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3739" y="3696454"/>
                  <a:ext cx="0" cy="319656"/>
                </a:xfrm>
                <a:prstGeom prst="straightConnector1">
                  <a:avLst/>
                </a:prstGeom>
                <a:grpFill/>
                <a:ln>
                  <a:noFill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8" name="Gruppieren 127">
                <a:extLst>
                  <a:ext uri="{FF2B5EF4-FFF2-40B4-BE49-F238E27FC236}">
                    <a16:creationId xmlns:a16="http://schemas.microsoft.com/office/drawing/2014/main" id="{42F960F3-360F-C338-7893-0D8FE9CF6EB1}"/>
                  </a:ext>
                </a:extLst>
              </p:cNvPr>
              <p:cNvGrpSpPr/>
              <p:nvPr/>
            </p:nvGrpSpPr>
            <p:grpSpPr>
              <a:xfrm>
                <a:off x="7351085" y="5899274"/>
                <a:ext cx="500097" cy="825808"/>
                <a:chOff x="8069290" y="3201396"/>
                <a:chExt cx="500097" cy="825808"/>
              </a:xfrm>
              <a:grpFill/>
            </p:grpSpPr>
            <p:pic>
              <p:nvPicPr>
                <p:cNvPr id="129" name="Grafik 128">
                  <a:extLst>
                    <a:ext uri="{FF2B5EF4-FFF2-40B4-BE49-F238E27FC236}">
                      <a16:creationId xmlns:a16="http://schemas.microsoft.com/office/drawing/2014/main" id="{518F6E87-5395-BE91-D347-C34D7F83B7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8561" t="18871" r="19073" b="19391"/>
                <a:stretch/>
              </p:blipFill>
              <p:spPr>
                <a:xfrm>
                  <a:off x="8069290" y="3201396"/>
                  <a:ext cx="500097" cy="495058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  <p:cxnSp>
              <p:nvCxnSpPr>
                <p:cNvPr id="130" name="Gerade Verbindung mit Pfeil 129">
                  <a:extLst>
                    <a:ext uri="{FF2B5EF4-FFF2-40B4-BE49-F238E27FC236}">
                      <a16:creationId xmlns:a16="http://schemas.microsoft.com/office/drawing/2014/main" id="{15D4753A-A306-F39F-DAFF-F041E842CA71}"/>
                    </a:ext>
                  </a:extLst>
                </p:cNvPr>
                <p:cNvCxnSpPr>
                  <a:stCxn id="129" idx="2"/>
                </p:cNvCxnSpPr>
                <p:nvPr/>
              </p:nvCxnSpPr>
              <p:spPr>
                <a:xfrm flipH="1">
                  <a:off x="8319338" y="3696454"/>
                  <a:ext cx="1" cy="330750"/>
                </a:xfrm>
                <a:prstGeom prst="straightConnector1">
                  <a:avLst/>
                </a:prstGeom>
                <a:grpFill/>
                <a:ln>
                  <a:noFill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Gerade Verbindung mit Pfeil 130">
                  <a:extLst>
                    <a:ext uri="{FF2B5EF4-FFF2-40B4-BE49-F238E27FC236}">
                      <a16:creationId xmlns:a16="http://schemas.microsoft.com/office/drawing/2014/main" id="{0CF5B437-6685-F0D2-1E6B-4C046A6CCF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3739" y="3696454"/>
                  <a:ext cx="0" cy="319656"/>
                </a:xfrm>
                <a:prstGeom prst="straightConnector1">
                  <a:avLst/>
                </a:prstGeom>
                <a:grpFill/>
                <a:ln>
                  <a:noFill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5E5E9C3C-112A-9EB1-43F0-157501A6357D}"/>
                </a:ext>
              </a:extLst>
            </p:cNvPr>
            <p:cNvGrpSpPr/>
            <p:nvPr/>
          </p:nvGrpSpPr>
          <p:grpSpPr>
            <a:xfrm>
              <a:off x="4758175" y="5155671"/>
              <a:ext cx="2672626" cy="1108014"/>
              <a:chOff x="4758175" y="5155671"/>
              <a:chExt cx="2672626" cy="1108014"/>
            </a:xfrm>
            <a:grpFill/>
          </p:grpSpPr>
          <p:grpSp>
            <p:nvGrpSpPr>
              <p:cNvPr id="164" name="Gruppieren 163">
                <a:extLst>
                  <a:ext uri="{FF2B5EF4-FFF2-40B4-BE49-F238E27FC236}">
                    <a16:creationId xmlns:a16="http://schemas.microsoft.com/office/drawing/2014/main" id="{E05D5D8B-2D47-3B64-E53F-7A56BF55D70A}"/>
                  </a:ext>
                </a:extLst>
              </p:cNvPr>
              <p:cNvGrpSpPr/>
              <p:nvPr/>
            </p:nvGrpSpPr>
            <p:grpSpPr>
              <a:xfrm>
                <a:off x="4758175" y="5155671"/>
                <a:ext cx="2672626" cy="1108014"/>
                <a:chOff x="4188733" y="5627124"/>
                <a:chExt cx="2672626" cy="1108014"/>
              </a:xfrm>
              <a:grpFill/>
            </p:grpSpPr>
            <p:pic>
              <p:nvPicPr>
                <p:cNvPr id="117" name="Grafik 116">
                  <a:extLst>
                    <a:ext uri="{FF2B5EF4-FFF2-40B4-BE49-F238E27FC236}">
                      <a16:creationId xmlns:a16="http://schemas.microsoft.com/office/drawing/2014/main" id="{355A0413-D13C-61EE-D500-AE9BEE8669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417886" y="5627124"/>
                  <a:ext cx="754487" cy="1097833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  <p:pic>
              <p:nvPicPr>
                <p:cNvPr id="118" name="Grafik 117">
                  <a:extLst>
                    <a:ext uri="{FF2B5EF4-FFF2-40B4-BE49-F238E27FC236}">
                      <a16:creationId xmlns:a16="http://schemas.microsoft.com/office/drawing/2014/main" id="{1DF750DA-5E89-81B4-F67B-A1868F29B3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88733" y="5988108"/>
                  <a:ext cx="470252" cy="684251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  <p:sp>
              <p:nvSpPr>
                <p:cNvPr id="119" name="Textfeld 118">
                  <a:extLst>
                    <a:ext uri="{FF2B5EF4-FFF2-40B4-BE49-F238E27FC236}">
                      <a16:creationId xmlns:a16="http://schemas.microsoft.com/office/drawing/2014/main" id="{C7BB0E8A-4658-2D6B-E4C4-2292DB2B4406}"/>
                    </a:ext>
                  </a:extLst>
                </p:cNvPr>
                <p:cNvSpPr txBox="1"/>
                <p:nvPr/>
              </p:nvSpPr>
              <p:spPr>
                <a:xfrm>
                  <a:off x="5219103" y="6092755"/>
                  <a:ext cx="848662" cy="36933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ym typeface="Wingdings" panose="05000000000000000000" pitchFamily="2" charset="2"/>
                    </a:rPr>
                    <a:t>   </a:t>
                  </a:r>
                  <a:endParaRPr lang="en-US" dirty="0"/>
                </a:p>
              </p:txBody>
            </p:sp>
            <p:grpSp>
              <p:nvGrpSpPr>
                <p:cNvPr id="146" name="Gruppieren 145">
                  <a:extLst>
                    <a:ext uri="{FF2B5EF4-FFF2-40B4-BE49-F238E27FC236}">
                      <a16:creationId xmlns:a16="http://schemas.microsoft.com/office/drawing/2014/main" id="{1744DCC0-8C5E-2651-14C0-ABEFC60A85CF}"/>
                    </a:ext>
                  </a:extLst>
                </p:cNvPr>
                <p:cNvGrpSpPr/>
                <p:nvPr/>
              </p:nvGrpSpPr>
              <p:grpSpPr>
                <a:xfrm>
                  <a:off x="5974310" y="5834732"/>
                  <a:ext cx="887049" cy="900406"/>
                  <a:chOff x="5371512" y="5912563"/>
                  <a:chExt cx="887049" cy="900406"/>
                </a:xfrm>
                <a:grpFill/>
              </p:grpSpPr>
              <p:pic>
                <p:nvPicPr>
                  <p:cNvPr id="135" name="Grafik 134">
                    <a:extLst>
                      <a:ext uri="{FF2B5EF4-FFF2-40B4-BE49-F238E27FC236}">
                        <a16:creationId xmlns:a16="http://schemas.microsoft.com/office/drawing/2014/main" id="{BB4FDC41-F05F-73BD-82F5-B2144A5F990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8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 rot="5400000">
                    <a:off x="5283577" y="6444286"/>
                    <a:ext cx="416445" cy="240576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</p:pic>
              <p:pic>
                <p:nvPicPr>
                  <p:cNvPr id="137" name="Grafik 136">
                    <a:extLst>
                      <a:ext uri="{FF2B5EF4-FFF2-40B4-BE49-F238E27FC236}">
                        <a16:creationId xmlns:a16="http://schemas.microsoft.com/office/drawing/2014/main" id="{009A3D2C-D0E7-64CC-6D3D-B66D21FDED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406679" y="5912563"/>
                    <a:ext cx="403098" cy="40553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</p:pic>
              <p:pic>
                <p:nvPicPr>
                  <p:cNvPr id="139" name="Grafik 138">
                    <a:extLst>
                      <a:ext uri="{FF2B5EF4-FFF2-40B4-BE49-F238E27FC236}">
                        <a16:creationId xmlns:a16="http://schemas.microsoft.com/office/drawing/2014/main" id="{A2664FF9-F4D1-BA96-F632-67CABE962C6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700769" y="6376891"/>
                    <a:ext cx="458981" cy="436078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</p:pic>
              <p:pic>
                <p:nvPicPr>
                  <p:cNvPr id="141" name="Grafik 140">
                    <a:extLst>
                      <a:ext uri="{FF2B5EF4-FFF2-40B4-BE49-F238E27FC236}">
                        <a16:creationId xmlns:a16="http://schemas.microsoft.com/office/drawing/2014/main" id="{BABF549C-13CC-4A92-DEE0-1BE5418506C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759267" y="5928622"/>
                    <a:ext cx="499294" cy="34551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</p:pic>
            </p:grpSp>
          </p:grpSp>
          <p:pic>
            <p:nvPicPr>
              <p:cNvPr id="11" name="Grafik 10">
                <a:extLst>
                  <a:ext uri="{FF2B5EF4-FFF2-40B4-BE49-F238E27FC236}">
                    <a16:creationId xmlns:a16="http://schemas.microsoft.com/office/drawing/2014/main" id="{70C4D787-40FF-EB1E-4303-AC54D84979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35075" y="5293589"/>
                <a:ext cx="353542" cy="937736"/>
              </a:xfrm>
              <a:prstGeom prst="rect">
                <a:avLst/>
              </a:prstGeom>
              <a:grpFill/>
              <a:ln>
                <a:noFill/>
              </a:ln>
            </p:spPr>
          </p:pic>
        </p:grpSp>
      </p:grpSp>
      <p:sp>
        <p:nvSpPr>
          <p:cNvPr id="2" name="Gleichschenkliges Dreieck 1">
            <a:extLst>
              <a:ext uri="{FF2B5EF4-FFF2-40B4-BE49-F238E27FC236}">
                <a16:creationId xmlns:a16="http://schemas.microsoft.com/office/drawing/2014/main" id="{76D270EA-45CF-7646-9C49-F1D60B9705DC}"/>
              </a:ext>
            </a:extLst>
          </p:cNvPr>
          <p:cNvSpPr/>
          <p:nvPr/>
        </p:nvSpPr>
        <p:spPr>
          <a:xfrm>
            <a:off x="9191803" y="5779048"/>
            <a:ext cx="173764" cy="434019"/>
          </a:xfrm>
          <a:prstGeom prst="triangle">
            <a:avLst/>
          </a:prstGeom>
          <a:gradFill flip="none" rotWithShape="1">
            <a:gsLst>
              <a:gs pos="0">
                <a:srgbClr val="0070C0"/>
              </a:gs>
              <a:gs pos="46900">
                <a:srgbClr val="00B050"/>
              </a:gs>
              <a:gs pos="100000">
                <a:srgbClr val="FF00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F48C7F7E-AFBD-98EF-E104-EFDE2F22AE02}"/>
              </a:ext>
            </a:extLst>
          </p:cNvPr>
          <p:cNvCxnSpPr>
            <a:cxnSpLocks/>
          </p:cNvCxnSpPr>
          <p:nvPr/>
        </p:nvCxnSpPr>
        <p:spPr>
          <a:xfrm flipH="1">
            <a:off x="10029193" y="5929199"/>
            <a:ext cx="1" cy="330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EF7223CD-2A4E-428A-F544-FD0783AA855D}"/>
              </a:ext>
            </a:extLst>
          </p:cNvPr>
          <p:cNvCxnSpPr>
            <a:cxnSpLocks/>
          </p:cNvCxnSpPr>
          <p:nvPr/>
        </p:nvCxnSpPr>
        <p:spPr>
          <a:xfrm flipV="1">
            <a:off x="10133841" y="5929199"/>
            <a:ext cx="0" cy="3196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7F9F31BA-F8F2-70AF-6E68-74ACA5AE1521}"/>
              </a:ext>
            </a:extLst>
          </p:cNvPr>
          <p:cNvCxnSpPr/>
          <p:nvPr/>
        </p:nvCxnSpPr>
        <p:spPr>
          <a:xfrm flipH="1">
            <a:off x="8553532" y="5859176"/>
            <a:ext cx="1" cy="330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84D7D7AD-7EDB-5788-5701-6E39B7700F85}"/>
              </a:ext>
            </a:extLst>
          </p:cNvPr>
          <p:cNvCxnSpPr>
            <a:cxnSpLocks/>
          </p:cNvCxnSpPr>
          <p:nvPr/>
        </p:nvCxnSpPr>
        <p:spPr>
          <a:xfrm flipV="1">
            <a:off x="8619871" y="5917815"/>
            <a:ext cx="0" cy="3196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636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</Words>
  <Application>Microsoft Office PowerPoint</Application>
  <PresentationFormat>Breitbild</PresentationFormat>
  <Paragraphs>41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</vt:lpstr>
      <vt:lpstr>PowerPoint-Präsentation</vt:lpstr>
    </vt:vector>
  </TitlesOfParts>
  <Company>DLR e.V.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Kacic, Patrick</dc:creator>
  <cp:lastModifiedBy>Kacic, Patrick</cp:lastModifiedBy>
  <cp:revision>4</cp:revision>
  <dcterms:created xsi:type="dcterms:W3CDTF">2026-10-05T13:07:49Z</dcterms:created>
  <dcterms:modified xsi:type="dcterms:W3CDTF">2026-10-05T13:23:28Z</dcterms:modified>
</cp:coreProperties>
</file>